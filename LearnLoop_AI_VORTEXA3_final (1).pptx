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ading Now 31-38" panose="020B0604020202020204" charset="0"/>
      <p:regular r:id="rId10"/>
    </p:embeddedFont>
    <p:embeddedFont>
      <p:font typeface="Heading Now 31-38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image" Target="../media/image10.png"/><Relationship Id="rId16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6.jp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8.png"/><Relationship Id="rId17" Type="http://schemas.openxmlformats.org/officeDocument/2006/relationships/image" Target="../media/image23.jpg"/><Relationship Id="rId2" Type="http://schemas.openxmlformats.org/officeDocument/2006/relationships/image" Target="../media/image10.png"/><Relationship Id="rId16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21.jp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27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image" Target="../media/image34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7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5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36677" y="6563781"/>
            <a:ext cx="6500000" cy="546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2400" b="1" dirty="0">
                <a:solidFill>
                  <a:srgbClr val="2F7173"/>
                </a:solidFill>
                <a:latin typeface="Aptos"/>
              </a:rPr>
              <a:t>TEAM NAME: </a:t>
            </a:r>
            <a:r>
              <a:rPr lang="en-US" sz="2400" b="1" dirty="0" err="1">
                <a:solidFill>
                  <a:srgbClr val="2F7173"/>
                </a:solidFill>
                <a:latin typeface="Aptos"/>
              </a:rPr>
              <a:t>EncodeX</a:t>
            </a:r>
            <a:endParaRPr lang="en-US" sz="2400" b="1" dirty="0">
              <a:solidFill>
                <a:srgbClr val="2F7173"/>
              </a:solidFill>
              <a:latin typeface="Apto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6677" y="4655619"/>
            <a:ext cx="7897968" cy="1023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2400" b="1" dirty="0">
                <a:solidFill>
                  <a:srgbClr val="D9604A"/>
                </a:solidFill>
                <a:latin typeface="Aptos"/>
              </a:rPr>
              <a:t>PROBLEM STATEMENT TITLE:</a:t>
            </a:r>
          </a:p>
          <a:p>
            <a:r>
              <a:rPr lang="en-US" sz="2400" b="0" dirty="0" err="1">
                <a:solidFill>
                  <a:srgbClr val="19274C"/>
                </a:solidFill>
                <a:latin typeface="Aptos"/>
              </a:rPr>
              <a:t>LearnLoop</a:t>
            </a:r>
            <a:r>
              <a:rPr lang="en-US" sz="2400" b="0" dirty="0">
                <a:solidFill>
                  <a:srgbClr val="19274C"/>
                </a:solidFill>
                <a:latin typeface="Aptos"/>
              </a:rPr>
              <a:t> AI: Adaptive AI Tutor &amp; Misconception Detector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500000" cy="57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2400" b="1" dirty="0">
                <a:solidFill>
                  <a:srgbClr val="2F7173"/>
                </a:solidFill>
                <a:latin typeface="Aptos"/>
              </a:rPr>
              <a:t>DOMAIN &amp; NO: Domain 5 | E-01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677" y="7525335"/>
            <a:ext cx="6500000" cy="518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2"/>
              </a:lnSpc>
            </a:pPr>
            <a:r>
              <a:rPr lang="en-US" sz="2400" b="1" dirty="0">
                <a:solidFill>
                  <a:srgbClr val="2F7173"/>
                </a:solidFill>
                <a:latin typeface="Aptos"/>
              </a:rPr>
              <a:t>TEAM ID: </a:t>
            </a:r>
            <a:r>
              <a:rPr lang="en-US" sz="2400" b="1" dirty="0" err="1">
                <a:solidFill>
                  <a:srgbClr val="2F7173"/>
                </a:solidFill>
                <a:latin typeface="Aptos"/>
              </a:rPr>
              <a:t>onspot</a:t>
            </a:r>
            <a:r>
              <a:rPr lang="en-US" sz="2400" b="1" dirty="0">
                <a:solidFill>
                  <a:srgbClr val="2F7173"/>
                </a:solidFill>
                <a:latin typeface="Aptos"/>
              </a:rPr>
              <a:t> 5</a:t>
            </a: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371600" y="219071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822960" y="1783080"/>
            <a:ext cx="10698480" cy="269748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0000" tIns="300000" rIns="164592" bIns="15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D9604A"/>
                </a:solidFill>
                <a:latin typeface="Aptos Display"/>
              </a:rPr>
              <a:t>THE PROBLEM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Most practice apps show correct/incorrect feedback but do not investigate the reason for an error.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The same wrong answer may reflect a misconception, a missing step, a knowledge gap or a one-off slip.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A confident diagnosis from one answer can mislead learners; cloud dependence can also exclude offline users.</a:t>
            </a:r>
          </a:p>
        </p:txBody>
      </p:sp>
      <p:grpSp>
        <p:nvGrpSpPr>
          <p:cNvPr id="19" name="Badge problem"/>
          <p:cNvGrpSpPr/>
          <p:nvPr/>
        </p:nvGrpSpPr>
        <p:grpSpPr>
          <a:xfrm>
            <a:off x="1097280" y="1435607"/>
            <a:ext cx="700000" cy="700000"/>
            <a:chOff x="4496320" y="1478800"/>
            <a:chExt cx="700000" cy="700000"/>
          </a:xfrm>
        </p:grpSpPr>
        <p:sp>
          <p:nvSpPr>
            <p:cNvPr id="20" name="Badge problem circle"/>
            <p:cNvSpPr/>
            <p:nvPr/>
          </p:nvSpPr>
          <p:spPr>
            <a:xfrm>
              <a:off x="4496320" y="1478800"/>
              <a:ext cx="700000" cy="7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Badge problem icon" descr="Badge problem icon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71320" y="1653800"/>
              <a:ext cx="350000" cy="350000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822960" y="4800600"/>
            <a:ext cx="10698480" cy="224028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0000" tIns="300000" rIns="164592" bIns="15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2F7173"/>
                </a:solidFill>
                <a:latin typeface="Aptos Display"/>
              </a:rPr>
              <a:t>THE E-01 NEED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Move from response → likely cause → targeted support.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Ask a clarifying probe when the evidence is weak; let learners disagree.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Verify understanding with a fresh, hint-free question and track progress locally.</a:t>
            </a:r>
          </a:p>
        </p:txBody>
      </p:sp>
      <p:grpSp>
        <p:nvGrpSpPr>
          <p:cNvPr id="22" name="Badge need"/>
          <p:cNvGrpSpPr/>
          <p:nvPr/>
        </p:nvGrpSpPr>
        <p:grpSpPr>
          <a:xfrm>
            <a:off x="1097280" y="4453128"/>
            <a:ext cx="700000" cy="700000"/>
            <a:chOff x="12840220" y="1478800"/>
            <a:chExt cx="700000" cy="700000"/>
          </a:xfrm>
        </p:grpSpPr>
        <p:sp>
          <p:nvSpPr>
            <p:cNvPr id="23" name="Badge need circle"/>
            <p:cNvSpPr/>
            <p:nvPr/>
          </p:nvSpPr>
          <p:spPr>
            <a:xfrm>
              <a:off x="12840220" y="1478800"/>
              <a:ext cx="700000" cy="700000"/>
            </a:xfrm>
            <a:prstGeom prst="ellipse">
              <a:avLst/>
            </a:prstGeom>
            <a:solidFill>
              <a:srgbClr val="2F7173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Badge need icon" descr="Badge need ico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015220" y="1653800"/>
              <a:ext cx="350000" cy="350000"/>
            </a:xfrm>
            <a:prstGeom prst="rect">
              <a:avLst/>
            </a:prstGeom>
          </p:spPr>
        </p:pic>
      </p:grpSp>
      <p:sp>
        <p:nvSpPr>
          <p:cNvPr id="18" name="Rounded Rectangle 17"/>
          <p:cNvSpPr/>
          <p:nvPr/>
        </p:nvSpPr>
        <p:spPr>
          <a:xfrm>
            <a:off x="822960" y="7360920"/>
            <a:ext cx="10698480" cy="1737360"/>
          </a:xfrm>
          <a:prstGeom prst="roundRect">
            <a:avLst>
              <a:gd name="adj" fmla="val 9000"/>
            </a:avLst>
          </a:prstGeom>
          <a:solidFill>
            <a:srgbClr val="19274C"/>
          </a:solidFill>
          <a:ln w="9525">
            <a:noFill/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80000" tIns="164592" rIns="201168" bIns="164592" rtlCol="0" anchor="ctr"/>
          <a:lstStyle/>
          <a:p>
            <a:pPr algn="l">
              <a:spcAft>
                <a:spcPts val="600"/>
              </a:spcAft>
            </a:pPr>
            <a:r>
              <a:rPr lang="en-US" sz="2200" b="1">
                <a:solidFill>
                  <a:srgbClr val="FFB4A2"/>
                </a:solidFill>
                <a:latin typeface="Aptos"/>
              </a:rPr>
              <a:t>PROJECT GOAL</a:t>
            </a:r>
          </a:p>
          <a:p>
            <a:pPr>
              <a:spcAft>
                <a:spcPts val="600"/>
              </a:spcAft>
            </a:pPr>
            <a:r>
              <a:rPr lang="en-US" sz="2200" b="0">
                <a:solidFill>
                  <a:srgbClr val="FFFFFF"/>
                </a:solidFill>
                <a:latin typeface="Aptos"/>
              </a:rPr>
              <a:t>A transparent, offline-first learning loop that diagnoses the response—not the learner—and checks whether the feedback worked.</a:t>
            </a:r>
          </a:p>
        </p:txBody>
      </p:sp>
      <p:grpSp>
        <p:nvGrpSpPr>
          <p:cNvPr id="25" name="Badge goal"/>
          <p:cNvGrpSpPr/>
          <p:nvPr/>
        </p:nvGrpSpPr>
        <p:grpSpPr>
          <a:xfrm>
            <a:off x="1122960" y="7829600"/>
            <a:ext cx="800000" cy="800000"/>
            <a:chOff x="1214400" y="5726480"/>
            <a:chExt cx="800000" cy="800000"/>
          </a:xfrm>
        </p:grpSpPr>
        <p:sp>
          <p:nvSpPr>
            <p:cNvPr id="26" name="Badge goal circle"/>
            <p:cNvSpPr/>
            <p:nvPr/>
          </p:nvSpPr>
          <p:spPr>
            <a:xfrm>
              <a:off x="1214400" y="5726480"/>
              <a:ext cx="800000" cy="8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Badge goal icon" descr="Badge goal icon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14400" y="5926480"/>
              <a:ext cx="400000" cy="400000"/>
            </a:xfrm>
            <a:prstGeom prst="rect">
              <a:avLst/>
            </a:prstGeom>
          </p:spPr>
        </p:pic>
      </p:grpSp>
      <p:sp>
        <p:nvSpPr>
          <p:cNvPr id="28" name="Rounded Rectangle 27"/>
          <p:cNvSpPr/>
          <p:nvPr/>
        </p:nvSpPr>
        <p:spPr>
          <a:xfrm>
            <a:off x="950976" y="2286000"/>
            <a:ext cx="82296" cy="1691640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0976" y="5303520"/>
            <a:ext cx="82296" cy="1234440"/>
          </a:xfrm>
          <a:prstGeom prst="roundRect">
            <a:avLst>
              <a:gd name="adj" fmla="val 50000"/>
            </a:avLst>
          </a:prstGeom>
          <a:solidFill>
            <a:srgbClr val="2F717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841480" y="2788920"/>
            <a:ext cx="6309360" cy="6309360"/>
          </a:xfrm>
          <a:prstGeom prst="ellipse">
            <a:avLst/>
          </a:prstGeom>
          <a:solidFill>
            <a:srgbClr val="C9B8EE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179039" y="6858000"/>
            <a:ext cx="3291840" cy="3291840"/>
          </a:xfrm>
          <a:prstGeom prst="ellipse">
            <a:avLst/>
          </a:prstGeom>
          <a:solidFill>
            <a:srgbClr val="F6B8A0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daad9675-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360000">
            <a:off x="12115800" y="3246120"/>
            <a:ext cx="2743200" cy="5943600"/>
          </a:xfrm>
          <a:prstGeom prst="roundRect">
            <a:avLst>
              <a:gd name="adj" fmla="val 6000"/>
            </a:avLst>
          </a:prstGeom>
          <a:ln w="73152">
            <a:solidFill>
              <a:srgbClr val="1B224F"/>
            </a:solidFill>
          </a:ln>
          <a:effectLst>
            <a:outerShdw blurRad="500000" dist="200000" dir="5400000" algn="t" rotWithShape="0">
              <a:srgbClr val="19274C">
                <a:alpha val="38000"/>
              </a:srgbClr>
            </a:outerShdw>
          </a:effectLst>
        </p:spPr>
      </p:pic>
      <p:pic>
        <p:nvPicPr>
          <p:cNvPr id="33" name="Picture 32" descr="9a2908b2-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40000">
            <a:off x="15041880" y="2606040"/>
            <a:ext cx="2743200" cy="5943600"/>
          </a:xfrm>
          <a:prstGeom prst="roundRect">
            <a:avLst>
              <a:gd name="adj" fmla="val 6000"/>
            </a:avLst>
          </a:prstGeom>
          <a:ln w="73152">
            <a:solidFill>
              <a:srgbClr val="1B224F"/>
            </a:solidFill>
          </a:ln>
          <a:effectLst>
            <a:outerShdw blurRad="500000" dist="200000" dir="5400000" algn="t" rotWithShape="0">
              <a:srgbClr val="19274C">
                <a:alpha val="38000"/>
              </a:srgbClr>
            </a:outerShdw>
          </a:effectLst>
        </p:spPr>
      </p:pic>
      <p:sp>
        <p:nvSpPr>
          <p:cNvPr id="34" name="Rounded Rectangle 33"/>
          <p:cNvSpPr/>
          <p:nvPr/>
        </p:nvSpPr>
        <p:spPr>
          <a:xfrm>
            <a:off x="12390120" y="941832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LEARNER HOME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316200" y="87782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2A7F7F"/>
          </a:solidFill>
          <a:ln>
            <a:noFill/>
          </a:ln>
        </p:spPr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SUBJECT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197029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IDEA TITLE / 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822960" y="1737360"/>
            <a:ext cx="7680960" cy="25146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0000" tIns="300000" rIns="164592" bIns="15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D9604A"/>
                </a:solidFill>
                <a:latin typeface="Aptos Display"/>
              </a:rPr>
              <a:t>1  INVESTIGATE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Check correctness with deterministic subject rules.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Extract rule flags and response context.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Rank possible error causes with a compact on-device classifier.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If evidence is weak, ask a short clarifying probe.</a:t>
            </a:r>
          </a:p>
        </p:txBody>
      </p:sp>
      <p:grpSp>
        <p:nvGrpSpPr>
          <p:cNvPr id="20" name="Badge search"/>
          <p:cNvGrpSpPr/>
          <p:nvPr/>
        </p:nvGrpSpPr>
        <p:grpSpPr>
          <a:xfrm>
            <a:off x="1097280" y="1389888"/>
            <a:ext cx="700000" cy="700000"/>
            <a:chOff x="3124720" y="1295920"/>
            <a:chExt cx="700000" cy="700000"/>
          </a:xfrm>
        </p:grpSpPr>
        <p:sp>
          <p:nvSpPr>
            <p:cNvPr id="21" name="Badge search circle"/>
            <p:cNvSpPr/>
            <p:nvPr/>
          </p:nvSpPr>
          <p:spPr>
            <a:xfrm>
              <a:off x="3124720" y="1295920"/>
              <a:ext cx="700000" cy="7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Badge search icon" descr="Badge search icon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9972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822960" y="4572000"/>
            <a:ext cx="7680960" cy="25146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0000" tIns="300000" rIns="164592" bIns="15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2F7173"/>
                </a:solidFill>
                <a:latin typeface="Aptos Display"/>
              </a:rPr>
              <a:t>2  ADAPT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Explain the error using the evidence.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Contrast the incorrect rule with the correct one.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Select a targeted hint, worked example or scaffolded activity.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Allow the learner to disagree with a tentative diagnosis.</a:t>
            </a:r>
          </a:p>
        </p:txBody>
      </p:sp>
      <p:grpSp>
        <p:nvGrpSpPr>
          <p:cNvPr id="23" name="Badge adapt"/>
          <p:cNvGrpSpPr/>
          <p:nvPr/>
        </p:nvGrpSpPr>
        <p:grpSpPr>
          <a:xfrm>
            <a:off x="1097280" y="4224528"/>
            <a:ext cx="700000" cy="700000"/>
            <a:chOff x="8702560" y="1295920"/>
            <a:chExt cx="700000" cy="700000"/>
          </a:xfrm>
        </p:grpSpPr>
        <p:sp>
          <p:nvSpPr>
            <p:cNvPr id="24" name="Badge adapt circle"/>
            <p:cNvSpPr/>
            <p:nvPr/>
          </p:nvSpPr>
          <p:spPr>
            <a:xfrm>
              <a:off x="8702560" y="1295920"/>
              <a:ext cx="700000" cy="700000"/>
            </a:xfrm>
            <a:prstGeom prst="ellipse">
              <a:avLst/>
            </a:prstGeom>
            <a:solidFill>
              <a:srgbClr val="2F7173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Badge adapt icon" descr="Badge adapt ico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756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18" name="Rounded Rectangle 17"/>
          <p:cNvSpPr/>
          <p:nvPr/>
        </p:nvSpPr>
        <p:spPr>
          <a:xfrm>
            <a:off x="822960" y="7406640"/>
            <a:ext cx="7680960" cy="25146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0000" tIns="300000" rIns="164592" bIns="15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6B5BB5"/>
                </a:solidFill>
                <a:latin typeface="Aptos Display"/>
              </a:rPr>
              <a:t>3  VERIFY &amp; UPDATE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Ask a fresh question in a different form, with no hints.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Update mastery only from verification evidence.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Save attempts, diagnosis status and review plan in local SQLite.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Keep the core workflow available offline.</a:t>
            </a:r>
          </a:p>
        </p:txBody>
      </p:sp>
      <p:grpSp>
        <p:nvGrpSpPr>
          <p:cNvPr id="26" name="Badge verify"/>
          <p:cNvGrpSpPr/>
          <p:nvPr/>
        </p:nvGrpSpPr>
        <p:grpSpPr>
          <a:xfrm>
            <a:off x="1097280" y="7059168"/>
            <a:ext cx="700000" cy="700000"/>
            <a:chOff x="14280400" y="1295920"/>
            <a:chExt cx="700000" cy="700000"/>
          </a:xfrm>
        </p:grpSpPr>
        <p:sp>
          <p:nvSpPr>
            <p:cNvPr id="27" name="Badge verify circle"/>
            <p:cNvSpPr/>
            <p:nvPr/>
          </p:nvSpPr>
          <p:spPr>
            <a:xfrm>
              <a:off x="14280400" y="1295920"/>
              <a:ext cx="700000" cy="700000"/>
            </a:xfrm>
            <a:prstGeom prst="ellipse">
              <a:avLst/>
            </a:prstGeom>
            <a:solidFill>
              <a:srgbClr val="6B5BB5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Badge verify icon" descr="Badge verify icon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45540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29" name="Rounded Rectangle 28"/>
          <p:cNvSpPr/>
          <p:nvPr/>
        </p:nvSpPr>
        <p:spPr>
          <a:xfrm>
            <a:off x="950976" y="2240280"/>
            <a:ext cx="82296" cy="1508760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0976" y="5074920"/>
            <a:ext cx="82296" cy="1508760"/>
          </a:xfrm>
          <a:prstGeom prst="roundRect">
            <a:avLst>
              <a:gd name="adj" fmla="val 50000"/>
            </a:avLst>
          </a:prstGeom>
          <a:solidFill>
            <a:srgbClr val="2F717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0976" y="7909560"/>
            <a:ext cx="82296" cy="1508760"/>
          </a:xfrm>
          <a:prstGeom prst="roundRect">
            <a:avLst>
              <a:gd name="adj" fmla="val 50000"/>
            </a:avLst>
          </a:prstGeom>
          <a:solidFill>
            <a:srgbClr val="6B5BB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01200" y="1828800"/>
            <a:ext cx="7863840" cy="7863840"/>
          </a:xfrm>
          <a:prstGeom prst="ellipse">
            <a:avLst/>
          </a:prstGeom>
          <a:solidFill>
            <a:srgbClr val="C9B8EE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5727680" y="1371600"/>
            <a:ext cx="2560320" cy="2560320"/>
          </a:xfrm>
          <a:prstGeom prst="ellipse">
            <a:avLst/>
          </a:prstGeom>
          <a:solidFill>
            <a:srgbClr val="F6B8A0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03919" y="7863840"/>
            <a:ext cx="2377440" cy="2377440"/>
          </a:xfrm>
          <a:prstGeom prst="ellipse">
            <a:avLst/>
          </a:prstGeom>
          <a:solidFill>
            <a:srgbClr val="F6B8A0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7a78f1f-image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300000">
            <a:off x="9326880" y="2880360"/>
            <a:ext cx="2560320" cy="5547360"/>
          </a:xfrm>
          <a:prstGeom prst="roundRect">
            <a:avLst>
              <a:gd name="adj" fmla="val 6000"/>
            </a:avLst>
          </a:prstGeom>
          <a:ln w="73152">
            <a:solidFill>
              <a:srgbClr val="1B224F"/>
            </a:solidFill>
          </a:ln>
          <a:effectLst>
            <a:outerShdw blurRad="500000" dist="200000" dir="5400000" algn="t" rotWithShape="0">
              <a:srgbClr val="19274C">
                <a:alpha val="38000"/>
              </a:srgbClr>
            </a:outerShdw>
          </a:effectLst>
        </p:spPr>
      </p:pic>
      <p:sp>
        <p:nvSpPr>
          <p:cNvPr id="36" name="Rounded Rectangle 35"/>
          <p:cNvSpPr/>
          <p:nvPr/>
        </p:nvSpPr>
        <p:spPr>
          <a:xfrm>
            <a:off x="9509760" y="8854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1  INVESTIGATE</a:t>
            </a:r>
          </a:p>
        </p:txBody>
      </p:sp>
      <p:pic>
        <p:nvPicPr>
          <p:cNvPr id="37" name="Picture 36" descr="121a66a9-image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70080" y="2240280"/>
            <a:ext cx="2926080" cy="6339840"/>
          </a:xfrm>
          <a:prstGeom prst="roundRect">
            <a:avLst>
              <a:gd name="adj" fmla="val 6000"/>
            </a:avLst>
          </a:prstGeom>
          <a:ln w="73152">
            <a:solidFill>
              <a:srgbClr val="1B224F"/>
            </a:solidFill>
          </a:ln>
          <a:effectLst>
            <a:outerShdw blurRad="500000" dist="200000" dir="5400000" algn="t" rotWithShape="0">
              <a:srgbClr val="19274C">
                <a:alpha val="38000"/>
              </a:srgbClr>
            </a:outerShdw>
          </a:effectLst>
        </p:spPr>
      </p:pic>
      <p:sp>
        <p:nvSpPr>
          <p:cNvPr id="38" name="Rounded Rectangle 37"/>
          <p:cNvSpPr/>
          <p:nvPr/>
        </p:nvSpPr>
        <p:spPr>
          <a:xfrm>
            <a:off x="12435840" y="8854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2A7F7F"/>
          </a:solidFill>
          <a:ln>
            <a:noFill/>
          </a:ln>
        </p:spPr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2  ADAPT</a:t>
            </a:r>
          </a:p>
        </p:txBody>
      </p:sp>
      <p:pic>
        <p:nvPicPr>
          <p:cNvPr id="39" name="Picture 38" descr="dc02fa85-image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300000">
            <a:off x="15179040" y="2880360"/>
            <a:ext cx="2560320" cy="5547360"/>
          </a:xfrm>
          <a:prstGeom prst="roundRect">
            <a:avLst>
              <a:gd name="adj" fmla="val 6000"/>
            </a:avLst>
          </a:prstGeom>
          <a:ln w="73152">
            <a:solidFill>
              <a:srgbClr val="1B224F"/>
            </a:solidFill>
          </a:ln>
          <a:effectLst>
            <a:outerShdw blurRad="500000" dist="200000" dir="5400000" algn="t" rotWithShape="0">
              <a:srgbClr val="19274C">
                <a:alpha val="38000"/>
              </a:srgbClr>
            </a:outerShdw>
          </a:effectLst>
        </p:spPr>
      </p:pic>
      <p:sp>
        <p:nvSpPr>
          <p:cNvPr id="40" name="Rounded Rectangle 39"/>
          <p:cNvSpPr/>
          <p:nvPr/>
        </p:nvSpPr>
        <p:spPr>
          <a:xfrm>
            <a:off x="15361920" y="885444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6B4FBB"/>
          </a:solidFill>
          <a:ln>
            <a:noFill/>
          </a:ln>
        </p:spPr>
        <p:txBody>
          <a:bodyPr t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3  VERIFY</a:t>
            </a:r>
          </a:p>
        </p:txBody>
      </p:sp>
      <p:sp>
        <p:nvSpPr>
          <p:cNvPr id="41" name="Oval 40"/>
          <p:cNvSpPr/>
          <p:nvPr/>
        </p:nvSpPr>
        <p:spPr>
          <a:xfrm>
            <a:off x="11841480" y="8877300"/>
            <a:ext cx="457200" cy="457200"/>
          </a:xfrm>
          <a:prstGeom prst="ellipse">
            <a:avLst/>
          </a:prstGeom>
          <a:solidFill>
            <a:srgbClr val="1B224F"/>
          </a:solidFill>
          <a:ln w="36576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2" name="Oval 41"/>
          <p:cNvSpPr/>
          <p:nvPr/>
        </p:nvSpPr>
        <p:spPr>
          <a:xfrm>
            <a:off x="14767559" y="8877300"/>
            <a:ext cx="457200" cy="457200"/>
          </a:xfrm>
          <a:prstGeom prst="ellipse">
            <a:avLst/>
          </a:prstGeom>
          <a:solidFill>
            <a:srgbClr val="1B224F"/>
          </a:solidFill>
          <a:ln w="36576">
            <a:solidFill>
              <a:srgbClr val="FFFFFF"/>
            </a:solidFill>
          </a:ln>
        </p:spPr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3491" y="193989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822960" y="1645920"/>
            <a:ext cx="8046720" cy="315468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 dirty="0">
                <a:solidFill>
                  <a:srgbClr val="2F7173"/>
                </a:solidFill>
                <a:latin typeface="Aptos Display"/>
              </a:rPr>
              <a:t>APP &amp; LEARNING ENGINE</a:t>
            </a: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03540"/>
                </a:solidFill>
                <a:latin typeface="Aptos"/>
              </a:rPr>
              <a:t>•  Flutter + Dart Android-first client; </a:t>
            </a:r>
            <a:r>
              <a:rPr lang="en-US" sz="1500" dirty="0" err="1">
                <a:solidFill>
                  <a:srgbClr val="303540"/>
                </a:solidFill>
                <a:latin typeface="Aptos"/>
              </a:rPr>
              <a:t>Riverpod</a:t>
            </a:r>
            <a:r>
              <a:rPr lang="en-US" sz="1500" dirty="0">
                <a:solidFill>
                  <a:srgbClr val="303540"/>
                </a:solidFill>
                <a:latin typeface="Aptos"/>
              </a:rPr>
              <a:t> state and </a:t>
            </a:r>
            <a:r>
              <a:rPr lang="en-US" sz="1500" dirty="0" err="1">
                <a:solidFill>
                  <a:srgbClr val="303540"/>
                </a:solidFill>
                <a:latin typeface="Aptos"/>
              </a:rPr>
              <a:t>go_router</a:t>
            </a:r>
            <a:r>
              <a:rPr lang="en-US" sz="1500" dirty="0">
                <a:solidFill>
                  <a:srgbClr val="303540"/>
                </a:solidFill>
                <a:latin typeface="Aptos"/>
              </a:rPr>
              <a:t> navigation.</a:t>
            </a: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03540"/>
                </a:solidFill>
                <a:latin typeface="Aptos"/>
              </a:rPr>
              <a:t>•  Shared subject-independent engine: answer checker, feature extractor, uncertainty gate, explanation composer, adaptive planner and mastery tracker.</a:t>
            </a: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03540"/>
                </a:solidFill>
                <a:latin typeface="Aptos"/>
              </a:rPr>
              <a:t>•  Algebra and Python modules supply content, evaluators, probes, hints and verification questions.</a:t>
            </a:r>
          </a:p>
        </p:txBody>
      </p:sp>
      <p:grpSp>
        <p:nvGrpSpPr>
          <p:cNvPr id="20" name="Badge app"/>
          <p:cNvGrpSpPr/>
          <p:nvPr/>
        </p:nvGrpSpPr>
        <p:grpSpPr>
          <a:xfrm>
            <a:off x="4496320" y="1295920"/>
            <a:ext cx="700000" cy="700000"/>
            <a:chOff x="4496320" y="1295920"/>
            <a:chExt cx="700000" cy="700000"/>
          </a:xfrm>
        </p:grpSpPr>
        <p:sp>
          <p:nvSpPr>
            <p:cNvPr id="21" name="Badge app circle"/>
            <p:cNvSpPr/>
            <p:nvPr/>
          </p:nvSpPr>
          <p:spPr>
            <a:xfrm>
              <a:off x="4496320" y="1295920"/>
              <a:ext cx="700000" cy="700000"/>
            </a:xfrm>
            <a:prstGeom prst="ellipse">
              <a:avLst/>
            </a:prstGeom>
            <a:solidFill>
              <a:srgbClr val="2F7173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Badge app icon" descr="Badge app icon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7132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9144000" y="1645920"/>
            <a:ext cx="8092440" cy="315468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D9604A"/>
                </a:solidFill>
                <a:latin typeface="Aptos Display"/>
              </a:rPr>
              <a:t>AI, DATA &amp; OFFLINE DESIGN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303540"/>
                </a:solidFill>
                <a:latin typeface="Aptos"/>
              </a:rPr>
              <a:t>•  Python / scikit-learn workbench; export model parameters and metadata as JSON for Dart inference.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303540"/>
                </a:solidFill>
                <a:latin typeface="Aptos"/>
              </a:rPr>
              <a:t>•  SQLite via sqflite stores attempts, diagnoses, mastery and review schedules.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303540"/>
                </a:solidFill>
                <a:latin typeface="Aptos"/>
              </a:rPr>
              <a:t>•  Bundled content and model assets; no network required for core learning flow.</a:t>
            </a:r>
          </a:p>
          <a:p>
            <a:pPr>
              <a:spcAft>
                <a:spcPts val="600"/>
              </a:spcAft>
            </a:pPr>
            <a:r>
              <a:rPr lang="en-US" sz="1500">
                <a:solidFill>
                  <a:srgbClr val="303540"/>
                </a:solidFill>
                <a:latin typeface="Aptos"/>
              </a:rPr>
              <a:t>•  If model parity fails, use deterministic rules and probes.</a:t>
            </a:r>
          </a:p>
        </p:txBody>
      </p:sp>
      <p:grpSp>
        <p:nvGrpSpPr>
          <p:cNvPr id="23" name="Badge data"/>
          <p:cNvGrpSpPr/>
          <p:nvPr/>
        </p:nvGrpSpPr>
        <p:grpSpPr>
          <a:xfrm>
            <a:off x="12840220" y="1295920"/>
            <a:ext cx="700000" cy="700000"/>
            <a:chOff x="12840220" y="1295920"/>
            <a:chExt cx="700000" cy="700000"/>
          </a:xfrm>
        </p:grpSpPr>
        <p:sp>
          <p:nvSpPr>
            <p:cNvPr id="24" name="Badge data circle"/>
            <p:cNvSpPr/>
            <p:nvPr/>
          </p:nvSpPr>
          <p:spPr>
            <a:xfrm>
              <a:off x="12840220" y="1295920"/>
              <a:ext cx="700000" cy="7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Badge data icon" descr="Badge data ico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01522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18" name="Rounded Rectangle 17"/>
          <p:cNvSpPr/>
          <p:nvPr/>
        </p:nvSpPr>
        <p:spPr>
          <a:xfrm>
            <a:off x="868680" y="5166360"/>
            <a:ext cx="8046720" cy="20574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420000" rIns="201168" bIns="200000" rtlCol="0" anchor="ctr"/>
          <a:lstStyle/>
          <a:p>
            <a:pPr algn="ctr">
              <a:spcAft>
                <a:spcPts val="600"/>
              </a:spcAft>
            </a:pPr>
            <a:r>
              <a:rPr lang="en-US" sz="1900" b="1">
                <a:solidFill>
                  <a:srgbClr val="6B5BB5"/>
                </a:solidFill>
                <a:latin typeface="Aptos"/>
              </a:rPr>
              <a:t>DIAGNOSIS OUTCOMES</a:t>
            </a:r>
          </a:p>
          <a:p>
            <a:pPr>
              <a:spcAft>
                <a:spcPts val="600"/>
              </a:spcAft>
            </a:pPr>
            <a:r>
              <a:rPr lang="en-US" sz="1900" b="0">
                <a:solidFill>
                  <a:srgbClr val="19274C"/>
                </a:solidFill>
                <a:latin typeface="Aptos"/>
              </a:rPr>
              <a:t>Conceptual misconception • Procedural error • Calculation/careless slip • Knowledge gap • Uncertain</a:t>
            </a:r>
          </a:p>
        </p:txBody>
      </p:sp>
      <p:grpSp>
        <p:nvGrpSpPr>
          <p:cNvPr id="26" name="Badge outcome"/>
          <p:cNvGrpSpPr/>
          <p:nvPr/>
        </p:nvGrpSpPr>
        <p:grpSpPr>
          <a:xfrm>
            <a:off x="4542040" y="4816360"/>
            <a:ext cx="700000" cy="700000"/>
            <a:chOff x="4542040" y="4816360"/>
            <a:chExt cx="700000" cy="700000"/>
          </a:xfrm>
        </p:grpSpPr>
        <p:sp>
          <p:nvSpPr>
            <p:cNvPr id="27" name="Badge outcome circle"/>
            <p:cNvSpPr/>
            <p:nvPr/>
          </p:nvSpPr>
          <p:spPr>
            <a:xfrm>
              <a:off x="4542040" y="4816360"/>
              <a:ext cx="700000" cy="700000"/>
            </a:xfrm>
            <a:prstGeom prst="ellipse">
              <a:avLst/>
            </a:prstGeom>
            <a:solidFill>
              <a:srgbClr val="6B5BB5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Badge outcome icon" descr="Badge outcome icon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17040" y="4991360"/>
              <a:ext cx="350000" cy="350000"/>
            </a:xfrm>
            <a:prstGeom prst="rect">
              <a:avLst/>
            </a:prstGeom>
          </p:spPr>
        </p:pic>
      </p:grpSp>
      <p:sp>
        <p:nvSpPr>
          <p:cNvPr id="19" name="Rounded Rectangle 18"/>
          <p:cNvSpPr/>
          <p:nvPr/>
        </p:nvSpPr>
        <p:spPr>
          <a:xfrm>
            <a:off x="9144000" y="5166360"/>
            <a:ext cx="8092440" cy="20574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420000" rIns="201168" bIns="200000" rtlCol="0" anchor="ctr"/>
          <a:lstStyle/>
          <a:p>
            <a:pPr algn="ctr">
              <a:spcAft>
                <a:spcPts val="600"/>
              </a:spcAft>
            </a:pPr>
            <a:r>
              <a:rPr lang="en-US" sz="1800" b="1">
                <a:solidFill>
                  <a:srgbClr val="19274C"/>
                </a:solidFill>
                <a:latin typeface="Aptos"/>
              </a:rPr>
              <a:t>EVALUATION PLAN</a:t>
            </a:r>
          </a:p>
          <a:p>
            <a:pPr>
              <a:spcAft>
                <a:spcPts val="600"/>
              </a:spcAft>
            </a:pPr>
            <a:r>
              <a:rPr lang="en-US" sz="1800" b="0">
                <a:solidFill>
                  <a:srgbClr val="303540"/>
                </a:solidFill>
                <a:latin typeface="Aptos"/>
              </a:rPr>
              <a:t>Accuracy • Macro-F1 • Confusion matrix • False-diagnosis rate • Coverage / abstention • Python–Dart golden-vector parity</a:t>
            </a:r>
          </a:p>
        </p:txBody>
      </p:sp>
      <p:grpSp>
        <p:nvGrpSpPr>
          <p:cNvPr id="29" name="Badge eval"/>
          <p:cNvGrpSpPr/>
          <p:nvPr/>
        </p:nvGrpSpPr>
        <p:grpSpPr>
          <a:xfrm>
            <a:off x="12840220" y="4816360"/>
            <a:ext cx="700000" cy="700000"/>
            <a:chOff x="12840220" y="4816360"/>
            <a:chExt cx="700000" cy="700000"/>
          </a:xfrm>
        </p:grpSpPr>
        <p:sp>
          <p:nvSpPr>
            <p:cNvPr id="30" name="Badge eval circle"/>
            <p:cNvSpPr/>
            <p:nvPr/>
          </p:nvSpPr>
          <p:spPr>
            <a:xfrm>
              <a:off x="12840220" y="4816360"/>
              <a:ext cx="700000" cy="700000"/>
            </a:xfrm>
            <a:prstGeom prst="ellipse">
              <a:avLst/>
            </a:prstGeom>
            <a:solidFill>
              <a:srgbClr val="19274C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Badge eval icon" descr="Badge eval ico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015220" y="4991360"/>
              <a:ext cx="350000" cy="350000"/>
            </a:xfrm>
            <a:prstGeom prst="rect">
              <a:avLst/>
            </a:prstGeom>
          </p:spPr>
        </p:pic>
      </p:grpSp>
      <p:sp>
        <p:nvSpPr>
          <p:cNvPr id="32" name="TextBox 31"/>
          <p:cNvSpPr txBox="1"/>
          <p:nvPr/>
        </p:nvSpPr>
        <p:spPr>
          <a:xfrm>
            <a:off x="868680" y="7452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9274C"/>
                </a:solidFill>
                <a:latin typeface="Aptos Display"/>
              </a:rPr>
              <a:t>HOW ONE ANSWER FLOWS THROUGH THE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790956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68680" y="8321040"/>
            <a:ext cx="2423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604A"/>
                </a:solidFill>
                <a:latin typeface="Aptos Display"/>
              </a:rPr>
              <a:t>Learner answer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Choice, numeric, algebra or code-output</a:t>
            </a:r>
          </a:p>
        </p:txBody>
      </p:sp>
      <p:sp>
        <p:nvSpPr>
          <p:cNvPr id="35" name="Oval 34"/>
          <p:cNvSpPr/>
          <p:nvPr/>
        </p:nvSpPr>
        <p:spPr>
          <a:xfrm>
            <a:off x="1824228" y="8065008"/>
            <a:ext cx="512064" cy="512064"/>
          </a:xfrm>
          <a:prstGeom prst="ellipse">
            <a:avLst/>
          </a:prstGeom>
          <a:solidFill>
            <a:srgbClr val="D9604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39" y="88468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8321040"/>
            <a:ext cx="2423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F7173"/>
                </a:solidFill>
                <a:latin typeface="Aptos Display"/>
              </a:rPr>
              <a:t>Rule check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Deterministic correctness first</a:t>
            </a:r>
          </a:p>
        </p:txBody>
      </p:sp>
      <p:sp>
        <p:nvSpPr>
          <p:cNvPr id="38" name="Oval 37"/>
          <p:cNvSpPr/>
          <p:nvPr/>
        </p:nvSpPr>
        <p:spPr>
          <a:xfrm>
            <a:off x="4613148" y="8065008"/>
            <a:ext cx="512064" cy="512064"/>
          </a:xfrm>
          <a:prstGeom prst="ellipse">
            <a:avLst/>
          </a:prstGeom>
          <a:solidFill>
            <a:srgbClr val="2F7173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88468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8321040"/>
            <a:ext cx="2423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6B5BB5"/>
                </a:solidFill>
                <a:latin typeface="Aptos Display"/>
              </a:rPr>
              <a:t>Feature extraction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Rule flags and response context</a:t>
            </a:r>
          </a:p>
        </p:txBody>
      </p:sp>
      <p:sp>
        <p:nvSpPr>
          <p:cNvPr id="41" name="Oval 40"/>
          <p:cNvSpPr/>
          <p:nvPr/>
        </p:nvSpPr>
        <p:spPr>
          <a:xfrm>
            <a:off x="7402068" y="8065008"/>
            <a:ext cx="512064" cy="512064"/>
          </a:xfrm>
          <a:prstGeom prst="ellipse">
            <a:avLst/>
          </a:prstGeom>
          <a:solidFill>
            <a:srgbClr val="6B5BB5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88468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39" y="8321040"/>
            <a:ext cx="2423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274C"/>
                </a:solidFill>
                <a:latin typeface="Aptos Display"/>
              </a:rPr>
              <a:t>Classifier + gate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Ranks causes; abstains if unsure</a:t>
            </a:r>
          </a:p>
        </p:txBody>
      </p:sp>
      <p:sp>
        <p:nvSpPr>
          <p:cNvPr id="44" name="Oval 43"/>
          <p:cNvSpPr/>
          <p:nvPr/>
        </p:nvSpPr>
        <p:spPr>
          <a:xfrm>
            <a:off x="10190987" y="8065008"/>
            <a:ext cx="512064" cy="512064"/>
          </a:xfrm>
          <a:prstGeom prst="ellipse">
            <a:avLst/>
          </a:prstGeom>
          <a:solidFill>
            <a:srgbClr val="19274C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58599" y="88468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24359" y="8321040"/>
            <a:ext cx="2423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604A"/>
                </a:solidFill>
                <a:latin typeface="Aptos Display"/>
              </a:rPr>
              <a:t>Explain + adapt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Evidence-based hint or example</a:t>
            </a:r>
          </a:p>
        </p:txBody>
      </p:sp>
      <p:sp>
        <p:nvSpPr>
          <p:cNvPr id="47" name="Oval 46"/>
          <p:cNvSpPr/>
          <p:nvPr/>
        </p:nvSpPr>
        <p:spPr>
          <a:xfrm>
            <a:off x="12979907" y="8065008"/>
            <a:ext cx="512064" cy="512064"/>
          </a:xfrm>
          <a:prstGeom prst="ellipse">
            <a:avLst/>
          </a:prstGeom>
          <a:solidFill>
            <a:srgbClr val="D9604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47519" y="88468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813280" y="8321040"/>
            <a:ext cx="2423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F7173"/>
                </a:solidFill>
                <a:latin typeface="Aptos Display"/>
              </a:rPr>
              <a:t>Verify + update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Fresh question; mastery saved in SQLite</a:t>
            </a:r>
          </a:p>
        </p:txBody>
      </p:sp>
      <p:sp>
        <p:nvSpPr>
          <p:cNvPr id="50" name="Oval 49"/>
          <p:cNvSpPr/>
          <p:nvPr/>
        </p:nvSpPr>
        <p:spPr>
          <a:xfrm>
            <a:off x="15768827" y="8065008"/>
            <a:ext cx="512064" cy="512064"/>
          </a:xfrm>
          <a:prstGeom prst="ellipse">
            <a:avLst/>
          </a:prstGeom>
          <a:solidFill>
            <a:srgbClr val="2F7173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0" y="15244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822960" y="1645920"/>
            <a:ext cx="8046720" cy="301752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D9604A"/>
                </a:solidFill>
                <a:latin typeface="Aptos Display"/>
              </a:rPr>
              <a:t>MVP SCOPE: SIX SKILLS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Mathematics / Algebra: binomial squares, linear equations, exponent laws.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Computer Science / Python: range() and loop bounds; assignment and list aliasing; / vs // and = vs ==.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Question formats: multiple choice, numeric, algebraic and code-output.</a:t>
            </a:r>
          </a:p>
        </p:txBody>
      </p:sp>
      <p:grpSp>
        <p:nvGrpSpPr>
          <p:cNvPr id="19" name="Badge scope"/>
          <p:cNvGrpSpPr/>
          <p:nvPr/>
        </p:nvGrpSpPr>
        <p:grpSpPr>
          <a:xfrm>
            <a:off x="4496320" y="1295920"/>
            <a:ext cx="700000" cy="700000"/>
            <a:chOff x="4496320" y="1295920"/>
            <a:chExt cx="700000" cy="700000"/>
          </a:xfrm>
        </p:grpSpPr>
        <p:sp>
          <p:nvSpPr>
            <p:cNvPr id="20" name="Badge scope circle"/>
            <p:cNvSpPr/>
            <p:nvPr/>
          </p:nvSpPr>
          <p:spPr>
            <a:xfrm>
              <a:off x="4496320" y="1295920"/>
              <a:ext cx="700000" cy="7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Badge scope icon" descr="Badge scope icon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67132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9144000" y="1645920"/>
            <a:ext cx="8092440" cy="301752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2F7173"/>
                </a:solidFill>
                <a:latin typeface="Aptos Display"/>
              </a:rPr>
              <a:t>12-HOUR DELIVERY STRATEGY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Freeze contracts and IDs early; build the rules/content baseline first.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Integrate diagnosis, adaptation, verification and SQLite by the integration checkpoint.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Feature-freeze before final testing; protect offline flow and uncertainty handling.</a:t>
            </a:r>
          </a:p>
        </p:txBody>
      </p:sp>
      <p:grpSp>
        <p:nvGrpSpPr>
          <p:cNvPr id="22" name="Badge clock"/>
          <p:cNvGrpSpPr/>
          <p:nvPr/>
        </p:nvGrpSpPr>
        <p:grpSpPr>
          <a:xfrm>
            <a:off x="12840220" y="1295920"/>
            <a:ext cx="700000" cy="700000"/>
            <a:chOff x="12840220" y="1295920"/>
            <a:chExt cx="700000" cy="700000"/>
          </a:xfrm>
        </p:grpSpPr>
        <p:sp>
          <p:nvSpPr>
            <p:cNvPr id="23" name="Badge clock circle"/>
            <p:cNvSpPr/>
            <p:nvPr/>
          </p:nvSpPr>
          <p:spPr>
            <a:xfrm>
              <a:off x="12840220" y="1295920"/>
              <a:ext cx="700000" cy="700000"/>
            </a:xfrm>
            <a:prstGeom prst="ellipse">
              <a:avLst/>
            </a:prstGeom>
            <a:solidFill>
              <a:srgbClr val="2F7173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Badge clock icon" descr="Badge clock ico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015220" y="1470920"/>
              <a:ext cx="350000" cy="350000"/>
            </a:xfrm>
            <a:prstGeom prst="rect">
              <a:avLst/>
            </a:prstGeom>
          </p:spPr>
        </p:pic>
      </p:grpSp>
      <p:sp>
        <p:nvSpPr>
          <p:cNvPr id="18" name="Rounded Rectangle 17"/>
          <p:cNvSpPr/>
          <p:nvPr/>
        </p:nvSpPr>
        <p:spPr>
          <a:xfrm>
            <a:off x="868680" y="4983480"/>
            <a:ext cx="16367759" cy="2423160"/>
          </a:xfrm>
          <a:prstGeom prst="roundRect">
            <a:avLst>
              <a:gd name="adj" fmla="val 9000"/>
            </a:avLst>
          </a:prstGeom>
          <a:solidFill>
            <a:srgbClr val="19274C"/>
          </a:solidFill>
          <a:ln w="9525">
            <a:noFill/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80000" tIns="164592" rIns="201168" bIns="164592" rtlCol="0" anchor="ctr"/>
          <a:lstStyle/>
          <a:p>
            <a:pPr algn="l">
              <a:spcAft>
                <a:spcPts val="600"/>
              </a:spcAft>
            </a:pPr>
            <a:r>
              <a:rPr lang="en-US" sz="2100" b="1">
                <a:solidFill>
                  <a:srgbClr val="FFB4A2"/>
                </a:solidFill>
                <a:latin typeface="Aptos"/>
              </a:rPr>
              <a:t>VIABILITY &amp; FALLBACK</a:t>
            </a:r>
          </a:p>
          <a:p>
            <a:pPr>
              <a:spcAft>
                <a:spcPts val="600"/>
              </a:spcAft>
            </a:pPr>
            <a:r>
              <a:rPr lang="en-US" sz="2100" b="0">
                <a:solidFill>
                  <a:srgbClr val="FFFFFF"/>
                </a:solidFill>
                <a:latin typeface="Aptos"/>
              </a:rPr>
              <a:t>The architecture supports future subject modules through a common contract. Five additional domains are planned extensions, not part of the working MVP. If the exported model cannot be validated against Dart inference, retain the safer rules-and-probes fallback.</a:t>
            </a:r>
          </a:p>
        </p:txBody>
      </p:sp>
      <p:grpSp>
        <p:nvGrpSpPr>
          <p:cNvPr id="25" name="Badge shield"/>
          <p:cNvGrpSpPr/>
          <p:nvPr/>
        </p:nvGrpSpPr>
        <p:grpSpPr>
          <a:xfrm>
            <a:off x="1168680" y="5795060"/>
            <a:ext cx="800000" cy="800000"/>
            <a:chOff x="1168680" y="5795060"/>
            <a:chExt cx="800000" cy="800000"/>
          </a:xfrm>
        </p:grpSpPr>
        <p:sp>
          <p:nvSpPr>
            <p:cNvPr id="26" name="Badge shield circle"/>
            <p:cNvSpPr/>
            <p:nvPr/>
          </p:nvSpPr>
          <p:spPr>
            <a:xfrm>
              <a:off x="1168680" y="5795060"/>
              <a:ext cx="800000" cy="8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Badge shield icon" descr="Badge shield icon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68680" y="5995060"/>
              <a:ext cx="400000" cy="400000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868680" y="76809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9274C"/>
                </a:solidFill>
                <a:latin typeface="Aptos Display"/>
              </a:rPr>
              <a:t>DELIVERY ROADMAP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813816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68680" y="8549640"/>
            <a:ext cx="38176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604A"/>
                </a:solidFill>
                <a:latin typeface="Aptos Display"/>
              </a:rPr>
              <a:t>Contracts + content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Freeze IDs and contracts early; build rules and content baseline</a:t>
            </a:r>
          </a:p>
        </p:txBody>
      </p:sp>
      <p:sp>
        <p:nvSpPr>
          <p:cNvPr id="31" name="Oval 30"/>
          <p:cNvSpPr/>
          <p:nvPr/>
        </p:nvSpPr>
        <p:spPr>
          <a:xfrm>
            <a:off x="2521457" y="8293608"/>
            <a:ext cx="512064" cy="512064"/>
          </a:xfrm>
          <a:prstGeom prst="ellipse">
            <a:avLst/>
          </a:prstGeom>
          <a:solidFill>
            <a:srgbClr val="D9604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6300" y="89611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52060" y="8549640"/>
            <a:ext cx="38176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F7173"/>
                </a:solidFill>
                <a:latin typeface="Aptos Display"/>
              </a:rPr>
              <a:t>Rules, probes + model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Evaluators, probes and the compact on-device classifier</a:t>
            </a:r>
          </a:p>
        </p:txBody>
      </p:sp>
      <p:sp>
        <p:nvSpPr>
          <p:cNvPr id="34" name="Oval 33"/>
          <p:cNvSpPr/>
          <p:nvPr/>
        </p:nvSpPr>
        <p:spPr>
          <a:xfrm>
            <a:off x="6704838" y="8293608"/>
            <a:ext cx="512064" cy="512064"/>
          </a:xfrm>
          <a:prstGeom prst="ellipse">
            <a:avLst/>
          </a:prstGeom>
          <a:solidFill>
            <a:srgbClr val="2F7173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89611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8549640"/>
            <a:ext cx="38176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6B5BB5"/>
                </a:solidFill>
                <a:latin typeface="Aptos Display"/>
              </a:rPr>
              <a:t>Integrate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Diagnosis, adaptation, verification and SQLite by the checkpoint</a:t>
            </a:r>
          </a:p>
        </p:txBody>
      </p:sp>
      <p:sp>
        <p:nvSpPr>
          <p:cNvPr id="37" name="Oval 36"/>
          <p:cNvSpPr/>
          <p:nvPr/>
        </p:nvSpPr>
        <p:spPr>
          <a:xfrm>
            <a:off x="10888218" y="8293608"/>
            <a:ext cx="512064" cy="512064"/>
          </a:xfrm>
          <a:prstGeom prst="ellipse">
            <a:avLst/>
          </a:prstGeom>
          <a:solidFill>
            <a:srgbClr val="6B5BB5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053059" y="8961119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D9604A"/>
                </a:solidFill>
                <a:latin typeface="Aptos Display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418820" y="8549640"/>
            <a:ext cx="38176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274C"/>
                </a:solidFill>
                <a:latin typeface="Aptos Display"/>
              </a:rPr>
              <a:t>Freeze + demo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Feature-freeze, test the offline flow, rehearse the demo</a:t>
            </a:r>
          </a:p>
        </p:txBody>
      </p:sp>
      <p:sp>
        <p:nvSpPr>
          <p:cNvPr id="40" name="Oval 39"/>
          <p:cNvSpPr/>
          <p:nvPr/>
        </p:nvSpPr>
        <p:spPr>
          <a:xfrm>
            <a:off x="15071597" y="8293608"/>
            <a:ext cx="512064" cy="512064"/>
          </a:xfrm>
          <a:prstGeom prst="ellipse">
            <a:avLst/>
          </a:prstGeom>
          <a:solidFill>
            <a:srgbClr val="19274C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446115" y="252854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822960" y="1691640"/>
            <a:ext cx="5303520" cy="443484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D9604A"/>
                </a:solidFill>
                <a:latin typeface="Aptos Display"/>
              </a:rPr>
              <a:t>FOR LEARNERS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Understand the likely reason an answer went wrong.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Get targeted hints and practice rather than generic retries.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See progress based on fresh verification evidence.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Use the core flow on a basic Android phone without internet.</a:t>
            </a:r>
          </a:p>
        </p:txBody>
      </p:sp>
      <p:grpSp>
        <p:nvGrpSpPr>
          <p:cNvPr id="21" name="Badge learn"/>
          <p:cNvGrpSpPr/>
          <p:nvPr/>
        </p:nvGrpSpPr>
        <p:grpSpPr>
          <a:xfrm>
            <a:off x="3124720" y="1341640"/>
            <a:ext cx="700000" cy="700000"/>
            <a:chOff x="3124720" y="1341640"/>
            <a:chExt cx="700000" cy="700000"/>
          </a:xfrm>
        </p:grpSpPr>
        <p:sp>
          <p:nvSpPr>
            <p:cNvPr id="22" name="Badge learn circle"/>
            <p:cNvSpPr/>
            <p:nvPr/>
          </p:nvSpPr>
          <p:spPr>
            <a:xfrm>
              <a:off x="3124720" y="1341640"/>
              <a:ext cx="700000" cy="7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Badge learn icon" descr="Badge learn icon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99720" y="1516640"/>
              <a:ext cx="350000" cy="350000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6400800" y="1691640"/>
            <a:ext cx="5303520" cy="443484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2F7173"/>
                </a:solidFill>
                <a:latin typeface="Aptos Display"/>
              </a:rPr>
              <a:t>FOR EDUCATORS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Review skill mastery and misconception status.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Inspect evidence and model version behind a diagnosis.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Use the learner's history to guide revision.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Class-level views are a future extension.</a:t>
            </a:r>
          </a:p>
        </p:txBody>
      </p:sp>
      <p:grpSp>
        <p:nvGrpSpPr>
          <p:cNvPr id="24" name="Badge teach"/>
          <p:cNvGrpSpPr/>
          <p:nvPr/>
        </p:nvGrpSpPr>
        <p:grpSpPr>
          <a:xfrm>
            <a:off x="8702560" y="1341640"/>
            <a:ext cx="700000" cy="700000"/>
            <a:chOff x="8702560" y="1341640"/>
            <a:chExt cx="700000" cy="700000"/>
          </a:xfrm>
        </p:grpSpPr>
        <p:sp>
          <p:nvSpPr>
            <p:cNvPr id="25" name="Badge teach circle"/>
            <p:cNvSpPr/>
            <p:nvPr/>
          </p:nvSpPr>
          <p:spPr>
            <a:xfrm>
              <a:off x="8702560" y="1341640"/>
              <a:ext cx="700000" cy="700000"/>
            </a:xfrm>
            <a:prstGeom prst="ellipse">
              <a:avLst/>
            </a:prstGeom>
            <a:solidFill>
              <a:srgbClr val="2F7173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Badge teach icon" descr="Badge teach ico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7560" y="1516640"/>
              <a:ext cx="350000" cy="350000"/>
            </a:xfrm>
            <a:prstGeom prst="rect">
              <a:avLst/>
            </a:prstGeom>
          </p:spPr>
        </p:pic>
      </p:grpSp>
      <p:sp>
        <p:nvSpPr>
          <p:cNvPr id="18" name="Rounded Rectangle 17"/>
          <p:cNvSpPr/>
          <p:nvPr/>
        </p:nvSpPr>
        <p:spPr>
          <a:xfrm>
            <a:off x="11978640" y="1691640"/>
            <a:ext cx="5303520" cy="443484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6B5BB5"/>
                </a:solidFill>
                <a:latin typeface="Aptos Display"/>
              </a:rPr>
              <a:t>HOW IMPACT WILL BE TESTED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Use matched pre/post assessments and learner feedback in a future pilot.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Report sample size, score change and study limitations.</a:t>
            </a:r>
          </a:p>
          <a:p>
            <a:pPr>
              <a:spcAft>
                <a:spcPts val="600"/>
              </a:spcAft>
            </a:pPr>
            <a:r>
              <a:rPr lang="en-US" sz="1600">
                <a:solidFill>
                  <a:srgbClr val="303540"/>
                </a:solidFill>
                <a:latin typeface="Aptos"/>
              </a:rPr>
              <a:t>•  No learning gain, accuracy or latency is claimed until measured.</a:t>
            </a:r>
          </a:p>
        </p:txBody>
      </p:sp>
      <p:grpSp>
        <p:nvGrpSpPr>
          <p:cNvPr id="27" name="Badge test"/>
          <p:cNvGrpSpPr/>
          <p:nvPr/>
        </p:nvGrpSpPr>
        <p:grpSpPr>
          <a:xfrm>
            <a:off x="14280400" y="1341640"/>
            <a:ext cx="700000" cy="700000"/>
            <a:chOff x="14280400" y="1341640"/>
            <a:chExt cx="700000" cy="700000"/>
          </a:xfrm>
        </p:grpSpPr>
        <p:sp>
          <p:nvSpPr>
            <p:cNvPr id="28" name="Badge test circle"/>
            <p:cNvSpPr/>
            <p:nvPr/>
          </p:nvSpPr>
          <p:spPr>
            <a:xfrm>
              <a:off x="14280400" y="1341640"/>
              <a:ext cx="700000" cy="700000"/>
            </a:xfrm>
            <a:prstGeom prst="ellipse">
              <a:avLst/>
            </a:prstGeom>
            <a:solidFill>
              <a:srgbClr val="6B5BB5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Badge test icon" descr="Badge test icon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455400" y="1516640"/>
              <a:ext cx="350000" cy="350000"/>
            </a:xfrm>
            <a:prstGeom prst="rect">
              <a:avLst/>
            </a:prstGeom>
          </p:spPr>
        </p:pic>
      </p:grpSp>
      <p:sp>
        <p:nvSpPr>
          <p:cNvPr id="20" name="Rounded Rectangle 19"/>
          <p:cNvSpPr/>
          <p:nvPr/>
        </p:nvSpPr>
        <p:spPr>
          <a:xfrm>
            <a:off x="914400" y="6537960"/>
            <a:ext cx="16276320" cy="1051560"/>
          </a:xfrm>
          <a:prstGeom prst="roundRect">
            <a:avLst>
              <a:gd name="adj" fmla="val 9000"/>
            </a:avLst>
          </a:prstGeom>
          <a:solidFill>
            <a:srgbClr val="19274C"/>
          </a:solidFill>
          <a:ln w="9525">
            <a:noFill/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80000" tIns="164592" rIns="201168" bIns="164592" rtlCol="0" anchor="ctr"/>
          <a:lstStyle/>
          <a:p>
            <a:pPr algn="ctr"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Aptos"/>
              </a:rPr>
              <a:t>Expected benefit: useful, evidence-based feedback that responds to the learner’s reasoning.</a:t>
            </a:r>
          </a:p>
        </p:txBody>
      </p:sp>
      <p:grpSp>
        <p:nvGrpSpPr>
          <p:cNvPr id="30" name="Badge star"/>
          <p:cNvGrpSpPr/>
          <p:nvPr/>
        </p:nvGrpSpPr>
        <p:grpSpPr>
          <a:xfrm>
            <a:off x="1214400" y="6663740"/>
            <a:ext cx="800000" cy="800000"/>
            <a:chOff x="1214400" y="6663740"/>
            <a:chExt cx="800000" cy="800000"/>
          </a:xfrm>
        </p:grpSpPr>
        <p:sp>
          <p:nvSpPr>
            <p:cNvPr id="31" name="Badge star circle"/>
            <p:cNvSpPr/>
            <p:nvPr/>
          </p:nvSpPr>
          <p:spPr>
            <a:xfrm>
              <a:off x="1214400" y="6663740"/>
              <a:ext cx="800000" cy="8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32" name="Badge star icon" descr="Badge star icon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14400" y="6863740"/>
              <a:ext cx="400000" cy="400000"/>
            </a:xfrm>
            <a:prstGeom prst="rect">
              <a:avLst/>
            </a:prstGeom>
          </p:spPr>
        </p:pic>
      </p:grpSp>
      <p:sp>
        <p:nvSpPr>
          <p:cNvPr id="33" name="TextBox 32"/>
          <p:cNvSpPr txBox="1"/>
          <p:nvPr/>
        </p:nvSpPr>
        <p:spPr>
          <a:xfrm>
            <a:off x="868680" y="781812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9274C"/>
                </a:solidFill>
                <a:latin typeface="Aptos Display"/>
              </a:rPr>
              <a:t>AT A GLANCE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827532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8680" y="8686800"/>
            <a:ext cx="38176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604A"/>
                </a:solidFill>
                <a:latin typeface="Aptos Display"/>
              </a:rPr>
              <a:t>OFFLINE-FIRST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Core learning flow needs no network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52060" y="8686800"/>
            <a:ext cx="38176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F7173"/>
                </a:solidFill>
                <a:latin typeface="Aptos Display"/>
              </a:rPr>
              <a:t>6 MVP SKILLS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Algebra and Python modules first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8686800"/>
            <a:ext cx="38176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6B5BB5"/>
                </a:solidFill>
                <a:latin typeface="Aptos Display"/>
              </a:rPr>
              <a:t>7 DOMAINS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Planned on one shared engine contract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418820" y="8686800"/>
            <a:ext cx="38176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137160" tIns="347472" rIns="137160" bIns="9144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274C"/>
                </a:solidFill>
                <a:latin typeface="Aptos Display"/>
              </a:rPr>
              <a:t>LOCAL SQLITE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303540"/>
                </a:solidFill>
                <a:latin typeface="Aptos"/>
              </a:rPr>
              <a:t>Attempts, mastery and reviews stay on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-1143000" y="190232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Rounded Rectangle 13"/>
          <p:cNvSpPr/>
          <p:nvPr/>
        </p:nvSpPr>
        <p:spPr>
          <a:xfrm>
            <a:off x="822960" y="1691640"/>
            <a:ext cx="8046720" cy="288036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>
                <a:solidFill>
                  <a:srgbClr val="D9604A"/>
                </a:solidFill>
                <a:latin typeface="Aptos Display"/>
              </a:rPr>
              <a:t>DIAGNOSTIC HONESTY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A wrong answer is a clue, not proof of reasoning.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Diagnosis remains a hypothesis until supported; otherwise the app abstains or asks a probe.</a:t>
            </a:r>
          </a:p>
          <a:p>
            <a:pPr>
              <a:spcAft>
                <a:spcPts val="600"/>
              </a:spcAft>
            </a:pPr>
            <a:r>
              <a:rPr lang="en-US" sz="1700">
                <a:solidFill>
                  <a:srgbClr val="303540"/>
                </a:solidFill>
                <a:latin typeface="Aptos"/>
              </a:rPr>
              <a:t>•  Learners can disagree; no high-stakes grading.</a:t>
            </a:r>
          </a:p>
        </p:txBody>
      </p:sp>
      <p:grpSp>
        <p:nvGrpSpPr>
          <p:cNvPr id="19" name="Badge honest"/>
          <p:cNvGrpSpPr/>
          <p:nvPr/>
        </p:nvGrpSpPr>
        <p:grpSpPr>
          <a:xfrm>
            <a:off x="4496320" y="1341640"/>
            <a:ext cx="700000" cy="700000"/>
            <a:chOff x="4496320" y="1341640"/>
            <a:chExt cx="700000" cy="700000"/>
          </a:xfrm>
        </p:grpSpPr>
        <p:sp>
          <p:nvSpPr>
            <p:cNvPr id="20" name="Badge honest circle"/>
            <p:cNvSpPr/>
            <p:nvPr/>
          </p:nvSpPr>
          <p:spPr>
            <a:xfrm>
              <a:off x="4496320" y="1341640"/>
              <a:ext cx="700000" cy="7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Badge honest icon" descr="Badge honest icon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71320" y="1516640"/>
              <a:ext cx="350000" cy="350000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9144000" y="1691640"/>
            <a:ext cx="8046720" cy="288036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420000" rIns="164592" bIns="200000" rtlCol="0" anchor="ctr"/>
          <a:lstStyle/>
          <a:p>
            <a:pPr algn="ctr">
              <a:spcAft>
                <a:spcPts val="900"/>
              </a:spcAft>
            </a:pPr>
            <a:r>
              <a:rPr lang="en-US" sz="2000" b="1" dirty="0">
                <a:solidFill>
                  <a:srgbClr val="2F7173"/>
                </a:solidFill>
                <a:latin typeface="Aptos Display"/>
              </a:rPr>
              <a:t>CLOSED-LOOP + PRIVACY</a:t>
            </a:r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03540"/>
                </a:solidFill>
                <a:latin typeface="Aptos"/>
              </a:rPr>
              <a:t>•  Diagnosis → targeted adaptation → fresh, hint-free verification.</a:t>
            </a:r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03540"/>
                </a:solidFill>
                <a:latin typeface="Aptos"/>
              </a:rPr>
              <a:t>•  Local SQLite records; privacy-by-default offline operation.</a:t>
            </a:r>
          </a:p>
          <a:p>
            <a:pPr>
              <a:spcAft>
                <a:spcPts val="600"/>
              </a:spcAft>
            </a:pPr>
            <a:r>
              <a:rPr lang="en-US" sz="1700" dirty="0">
                <a:solidFill>
                  <a:srgbClr val="303540"/>
                </a:solidFill>
                <a:latin typeface="Aptos"/>
              </a:rPr>
              <a:t>•  Reusable engine with subject-specific modules instead of separate systems.</a:t>
            </a:r>
          </a:p>
        </p:txBody>
      </p:sp>
      <p:grpSp>
        <p:nvGrpSpPr>
          <p:cNvPr id="22" name="Badge loop"/>
          <p:cNvGrpSpPr/>
          <p:nvPr/>
        </p:nvGrpSpPr>
        <p:grpSpPr>
          <a:xfrm>
            <a:off x="12840220" y="1341640"/>
            <a:ext cx="700000" cy="700000"/>
            <a:chOff x="12840220" y="1341640"/>
            <a:chExt cx="700000" cy="700000"/>
          </a:xfrm>
        </p:grpSpPr>
        <p:sp>
          <p:nvSpPr>
            <p:cNvPr id="23" name="Badge loop circle"/>
            <p:cNvSpPr/>
            <p:nvPr/>
          </p:nvSpPr>
          <p:spPr>
            <a:xfrm>
              <a:off x="12840220" y="1341640"/>
              <a:ext cx="700000" cy="700000"/>
            </a:xfrm>
            <a:prstGeom prst="ellipse">
              <a:avLst/>
            </a:prstGeom>
            <a:solidFill>
              <a:srgbClr val="2F7173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Badge loop icon" descr="Badge loop icon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015220" y="1516640"/>
              <a:ext cx="350000" cy="350000"/>
            </a:xfrm>
            <a:prstGeom prst="rect">
              <a:avLst/>
            </a:prstGeom>
          </p:spPr>
        </p:pic>
      </p:grpSp>
      <p:sp>
        <p:nvSpPr>
          <p:cNvPr id="18" name="Rounded Rectangle 17"/>
          <p:cNvSpPr/>
          <p:nvPr/>
        </p:nvSpPr>
        <p:spPr>
          <a:xfrm>
            <a:off x="868680" y="4937760"/>
            <a:ext cx="16367759" cy="2331720"/>
          </a:xfrm>
          <a:prstGeom prst="roundRect">
            <a:avLst>
              <a:gd name="adj" fmla="val 9000"/>
            </a:avLst>
          </a:prstGeom>
          <a:solidFill>
            <a:srgbClr val="19274C"/>
          </a:solidFill>
          <a:ln w="9525">
            <a:noFill/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80000" tIns="164592" rIns="201168" bIns="164592" rtlCol="0" anchor="ctr"/>
          <a:lstStyle/>
          <a:p>
            <a:pPr algn="l">
              <a:spcAft>
                <a:spcPts val="600"/>
              </a:spcAft>
            </a:pPr>
            <a:r>
              <a:rPr lang="en-US" sz="2100" b="1">
                <a:solidFill>
                  <a:srgbClr val="FFB4A2"/>
                </a:solidFill>
                <a:latin typeface="Aptos"/>
              </a:rPr>
              <a:t>EXAMPLE</a:t>
            </a:r>
          </a:p>
          <a:p>
            <a:pPr>
              <a:spcAft>
                <a:spcPts val="600"/>
              </a:spcAft>
            </a:pPr>
            <a:r>
              <a:rPr lang="en-US" sz="2100" b="0">
                <a:solidFill>
                  <a:srgbClr val="FFFFFF"/>
                </a:solidFill>
                <a:latin typeface="Aptos"/>
              </a:rPr>
              <a:t>Algebra: (x + 3)² = x² + 9 may indicate a missing cross term—but it could be a slip or a deeper gap. LearnLoop asks the learner to expand (x + 3)(x + 3), then confirms, revises or withholds the diagnosis based on the response.</a:t>
            </a:r>
          </a:p>
        </p:txBody>
      </p:sp>
      <p:grpSp>
        <p:nvGrpSpPr>
          <p:cNvPr id="25" name="Badge idea"/>
          <p:cNvGrpSpPr/>
          <p:nvPr/>
        </p:nvGrpSpPr>
        <p:grpSpPr>
          <a:xfrm>
            <a:off x="1168680" y="5703620"/>
            <a:ext cx="800000" cy="800000"/>
            <a:chOff x="1168680" y="5703620"/>
            <a:chExt cx="800000" cy="800000"/>
          </a:xfrm>
        </p:grpSpPr>
        <p:sp>
          <p:nvSpPr>
            <p:cNvPr id="26" name="Badge idea circle"/>
            <p:cNvSpPr/>
            <p:nvPr/>
          </p:nvSpPr>
          <p:spPr>
            <a:xfrm>
              <a:off x="1168680" y="5703620"/>
              <a:ext cx="800000" cy="800000"/>
            </a:xfrm>
            <a:prstGeom prst="ellipse">
              <a:avLst/>
            </a:prstGeom>
            <a:solidFill>
              <a:srgbClr val="D9604A"/>
            </a:solidFill>
            <a:ln w="38100">
              <a:solidFill>
                <a:srgbClr val="FFFFFF"/>
              </a:solidFill>
            </a:ln>
            <a:effectLst>
              <a:outerShdw blurRad="150000" dist="50000" dir="5400000" algn="t" rotWithShape="0">
                <a:srgbClr val="19274C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Badge idea icon" descr="Badge idea icon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368680" y="5903620"/>
              <a:ext cx="400000" cy="400000"/>
            </a:xfrm>
            <a:prstGeom prst="rect">
              <a:avLst/>
            </a:prstGeom>
          </p:spPr>
        </p:pic>
      </p:grpSp>
      <p:sp>
        <p:nvSpPr>
          <p:cNvPr id="28" name="TextBox 27"/>
          <p:cNvSpPr txBox="1"/>
          <p:nvPr/>
        </p:nvSpPr>
        <p:spPr>
          <a:xfrm>
            <a:off x="868680" y="745236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9274C"/>
                </a:solidFill>
                <a:latin typeface="Aptos Display"/>
              </a:rPr>
              <a:t>WHY IT STANDS 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790956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D9604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68680" y="8229600"/>
            <a:ext cx="7589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DF3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365760" tIns="137160" rIns="274320" bIns="91440" rtlCol="0" anchor="ctr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B7280"/>
                </a:solidFill>
                <a:latin typeface="Aptos Display"/>
              </a:rPr>
              <a:t>TYPICAL PRACTICE APP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03540"/>
                </a:solidFill>
                <a:latin typeface="Aptos"/>
              </a:rPr>
              <a:t>•  Marks the answer right or wrong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03540"/>
                </a:solidFill>
                <a:latin typeface="Aptos"/>
              </a:rPr>
              <a:t>•  Offers the same generic hint to everyone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03540"/>
                </a:solidFill>
                <a:latin typeface="Aptos"/>
              </a:rPr>
              <a:t>•  Often depends on the cloud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8229600"/>
            <a:ext cx="7589520" cy="1691640"/>
          </a:xfrm>
          <a:prstGeom prst="roundRect">
            <a:avLst>
              <a:gd name="adj" fmla="val 8000"/>
            </a:avLst>
          </a:prstGeom>
          <a:solidFill>
            <a:srgbClr val="19274C"/>
          </a:solidFill>
          <a:ln w="9525">
            <a:solidFill>
              <a:srgbClr val="19274C"/>
            </a:solidFill>
          </a:ln>
          <a:effectLst>
            <a:outerShdw blurRad="380000" dist="120000" dir="5400000" algn="t" rotWithShape="0">
              <a:srgbClr val="19274C">
                <a:alpha val="18000"/>
              </a:srgbClr>
            </a:outerShdw>
          </a:effectLst>
        </p:spPr>
        <p:txBody>
          <a:bodyPr wrap="square" lIns="365760" tIns="137160" rIns="274320" bIns="91440" rtlCol="0" anchor="ctr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604A"/>
                </a:solidFill>
                <a:latin typeface="Aptos Display"/>
              </a:rPr>
              <a:t>LEARNLOOP AI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Investigates the likely cause of the error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Abstains or asks a probe when evidence is weak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•  Verifies the fix and works fully offline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8659368"/>
            <a:ext cx="822960" cy="822960"/>
          </a:xfrm>
          <a:prstGeom prst="ellipse">
            <a:avLst/>
          </a:prstGeom>
          <a:solidFill>
            <a:srgbClr val="D9604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1138</Words>
  <Application>Microsoft Office PowerPoint</Application>
  <PresentationFormat>Custom</PresentationFormat>
  <Paragraphs>159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Heading Now 31-38 Bold</vt:lpstr>
      <vt:lpstr>Calibri</vt:lpstr>
      <vt:lpstr>Heading Now 31-38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cp:lastModifiedBy>Aditya Chinchole</cp:lastModifiedBy>
  <cp:revision>2</cp:revision>
  <dcterms:created xsi:type="dcterms:W3CDTF">2006-08-16T00:00:00Z</dcterms:created>
  <dcterms:modified xsi:type="dcterms:W3CDTF">2026-10-11T13:39:04Z</dcterms:modified>
  <dc:identifier>DAHXr7I3BNw</dc:identifier>
</cp:coreProperties>
</file>